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163a924d44985" /><Relationship Type="http://schemas.openxmlformats.org/officeDocument/2006/relationships/extended-properties" Target="/docProps/app.xml" Id="Rf74be6460d074af1" /><Relationship Type="http://schemas.openxmlformats.org/officeDocument/2006/relationships/officeDocument" Target="/ppt/presentation.xml" Id="R6683e154a9a84a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447b56e4f4240"/>
  </p:sldMasterIdLst>
  <p:notesMasterIdLst>
    <p:notesMasterId xmlns:r="http://schemas.openxmlformats.org/officeDocument/2006/relationships" r:id="R5765479337bb4742"/>
  </p:notesMasterIdLst>
  <p:sldIdLst>
    <p:sldId xmlns:r="http://schemas.openxmlformats.org/officeDocument/2006/relationships" id="256" r:id="R546e22d0ae0f4027"/>
    <p:sldId xmlns:r="http://schemas.openxmlformats.org/officeDocument/2006/relationships" id="257" r:id="R231c2997a0994cca"/>
    <p:sldId xmlns:r="http://schemas.openxmlformats.org/officeDocument/2006/relationships" id="258" r:id="Rf778a1c8ac5a4e41"/>
    <p:sldId xmlns:r="http://schemas.openxmlformats.org/officeDocument/2006/relationships" id="259" r:id="R6167f5bd26b74f00"/>
    <p:sldId xmlns:r="http://schemas.openxmlformats.org/officeDocument/2006/relationships" id="260" r:id="R5ab44c12de8341b3"/>
    <p:sldId xmlns:r="http://schemas.openxmlformats.org/officeDocument/2006/relationships" id="261" r:id="Ra34a0926a90d4383"/>
    <p:sldId xmlns:r="http://schemas.openxmlformats.org/officeDocument/2006/relationships" id="262" r:id="Rc89e80a9cc034319"/>
    <p:sldId xmlns:r="http://schemas.openxmlformats.org/officeDocument/2006/relationships" id="263" r:id="Raeef469b47ba480b"/>
    <p:sldId xmlns:r="http://schemas.openxmlformats.org/officeDocument/2006/relationships" id="264" r:id="Rc6b28d8cc6b44ead"/>
    <p:sldId xmlns:r="http://schemas.openxmlformats.org/officeDocument/2006/relationships" id="265" r:id="R4138143cf283493f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2fe0feffd4808" /><Relationship Type="http://schemas.openxmlformats.org/officeDocument/2006/relationships/slideMaster" Target="/ppt/slideMasters/slideMaster1.xml" Id="R15a447b56e4f4240" /><Relationship Type="http://schemas.openxmlformats.org/officeDocument/2006/relationships/notesMaster" Target="/ppt/notesMasters/notesMaster1.xml" Id="R5765479337bb4742" /><Relationship Type="http://schemas.openxmlformats.org/officeDocument/2006/relationships/presProps" Target="/ppt/presProps.xml" Id="R7a071ebe47714f24" /><Relationship Type="http://schemas.openxmlformats.org/officeDocument/2006/relationships/viewProps" Target="/ppt/viewProps.xml" Id="Rc033b549d93a47b8" /><Relationship Type="http://schemas.openxmlformats.org/officeDocument/2006/relationships/tableStyles" Target="/ppt/tableStyles.xml" Id="R768833d0bdb14765" /><Relationship Type="http://schemas.openxmlformats.org/officeDocument/2006/relationships/slide" Target="/ppt/slides/slide1.xml" Id="R546e22d0ae0f4027" /><Relationship Type="http://schemas.openxmlformats.org/officeDocument/2006/relationships/slide" Target="/ppt/slides/slide2.xml" Id="R231c2997a0994cca" /><Relationship Type="http://schemas.openxmlformats.org/officeDocument/2006/relationships/slide" Target="/ppt/slides/slide3.xml" Id="Rf778a1c8ac5a4e41" /><Relationship Type="http://schemas.openxmlformats.org/officeDocument/2006/relationships/slide" Target="/ppt/slides/slide4.xml" Id="R6167f5bd26b74f00" /><Relationship Type="http://schemas.openxmlformats.org/officeDocument/2006/relationships/slide" Target="/ppt/slides/slide5.xml" Id="R5ab44c12de8341b3" /><Relationship Type="http://schemas.openxmlformats.org/officeDocument/2006/relationships/slide" Target="/ppt/slides/slide6.xml" Id="Ra34a0926a90d4383" /><Relationship Type="http://schemas.openxmlformats.org/officeDocument/2006/relationships/slide" Target="/ppt/slides/slide7.xml" Id="Rc89e80a9cc034319" /><Relationship Type="http://schemas.openxmlformats.org/officeDocument/2006/relationships/slide" Target="/ppt/slides/slide8.xml" Id="Raeef469b47ba480b" /><Relationship Type="http://schemas.openxmlformats.org/officeDocument/2006/relationships/slide" Target="/ppt/slides/slide9.xml" Id="Rc6b28d8cc6b44ead" /><Relationship Type="http://schemas.openxmlformats.org/officeDocument/2006/relationships/slide" Target="/ppt/slides/slide10.xml" Id="R4138143cf283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8455a3465741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bf51cc85884d56" /><Relationship Type="http://schemas.openxmlformats.org/officeDocument/2006/relationships/notesMaster" Target="/ppt/notesMasters/notesMaster1.xml" Id="R1b3fa186da3048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d15c43a21470f" /><Relationship Type="http://schemas.openxmlformats.org/officeDocument/2006/relationships/notesMaster" Target="/ppt/notesMasters/notesMaster1.xml" Id="R22e00d325ae5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32f8aeeee54a4d" /><Relationship Type="http://schemas.openxmlformats.org/officeDocument/2006/relationships/notesMaster" Target="/ppt/notesMasters/notesMaster1.xml" Id="Rc658f9173a184c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9c87180804c3a" /><Relationship Type="http://schemas.openxmlformats.org/officeDocument/2006/relationships/notesMaster" Target="/ppt/notesMasters/notesMaster1.xml" Id="R9cc6d2e0efe8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b7bb60af0c4aed" /><Relationship Type="http://schemas.openxmlformats.org/officeDocument/2006/relationships/notesMaster" Target="/ppt/notesMasters/notesMaster1.xml" Id="R05e8340c19774a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f0b2b98a134f25" /><Relationship Type="http://schemas.openxmlformats.org/officeDocument/2006/relationships/notesMaster" Target="/ppt/notesMasters/notesMaster1.xml" Id="Raea9a3020acf4a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213e6c25fe4177" /><Relationship Type="http://schemas.openxmlformats.org/officeDocument/2006/relationships/notesMaster" Target="/ppt/notesMasters/notesMaster1.xml" Id="Ra2c60ae8d8ad4a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82f90c33c44b60" /><Relationship Type="http://schemas.openxmlformats.org/officeDocument/2006/relationships/notesMaster" Target="/ppt/notesMasters/notesMaster1.xml" Id="Rd4477697d9274e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2ae29eaa64630" /><Relationship Type="http://schemas.openxmlformats.org/officeDocument/2006/relationships/notesMaster" Target="/ppt/notesMasters/notesMaster1.xml" Id="R96a94f72511042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f3efc829b744be" /><Relationship Type="http://schemas.openxmlformats.org/officeDocument/2006/relationships/notesMaster" Target="/ppt/notesMasters/notesMaster1.xml" Id="R1c0c60701757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565fc01d34c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9b452821b4d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9e88c44514e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5b1d4b48d43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daafe134a4f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df3fa111d40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e06997ea745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693dd7c4944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bacaa98d144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28aa86f6e4c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2982e5282494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9ED32B-E7B1-401C-89D5-21815C417C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953A4B-1B9A-4A76-8887-2366F04823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AC1823-378F-4AA1-8CAC-A6FC820ED7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AD14DC-31C6-4D97-A825-958DC3A5B0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B7FDB7-B3D0-4E36-976F-9A4215F09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4DAA6F-EF26-4914-896A-75C8BC4C2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682B53-4DC2-479A-B51F-C5835E1F3A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9E5A31-D440-4B6A-B3ED-F249585B61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1DBEF1-77BF-4748-9E16-5361FDA7E0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1A0F47-44A5-45B3-99D2-E9357CB1E1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9F9CCC-D157-43C6-A95B-69C5015F8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6BB5FB-6712-4913-AE40-AD2BD74B44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A1833A-265B-43B3-B6A3-F3AF8547F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92D078-ABA8-4E09-91B5-2C6E41FC02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645429-B56A-4395-91F1-0C7A6A6E63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7F87CB-5C06-4979-A2A2-F68991DC0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83287A0-E1B0-47BC-975C-7B3411F12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A58E3DC-0584-428A-878F-47C37284DB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003B30-BF31-488D-857D-5930E87928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93D2A7-0C86-4124-9BC3-849698982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C0AAB2-3DBE-4577-A9BA-E9E89A1163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B1872D-67FF-401C-844C-206173356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587BA5-B924-4EA2-B96E-28BEA65E2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4CA4F09-3F04-4F16-9F80-86378FA23F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929059-2902-4B4B-B9CB-330A7C65144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956E49E-EF04-4BB1-9E6D-AE4C3A9DBF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9EE3105-7D7C-4671-946A-B9A1D345B3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561D8B1-90AC-42C6-AED8-3AA83E70E2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B9CF271-B56F-4C7A-A17A-86E7616C1E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DEFF9D-A8E0-4A5C-9005-10F4C9A2E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3E924C4-A3C4-4A10-AF8C-BA9E6AC69C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701D66-0E03-4277-9617-9D83A32B8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DEF8FD7-F0E4-409C-932B-934F41A4A1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2E94FAA-22E8-4530-B39E-F72663E4ED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F8BD72F-0C7B-4AC5-84CD-8E8297BB6B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77263B7-C1B1-4275-B6CA-F2A4870EC0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1D7B14-DFC5-4D79-976A-7B4B79391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1B3E98-24B6-47ED-A318-40F80FFCE6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8A9C29-1119-4604-A93F-78282753C1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91675D-4739-4305-A262-5DF91E328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CA99E0-04C3-4A68-82C2-3D89C37EE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A0105C3-94F7-48B5-82EB-A3DA1AAEAC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F8A46-FFDA-4225-83F9-F70A892DB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80B6FBB-F0AA-43FA-998B-23DD740234C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A584293-85D5-433E-9647-41401224AE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532D6B8-515B-43F5-B34C-B7AADEC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9FED91F-C945-4311-A7B9-02FFF6A3D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408B4EE-B994-4930-BB74-90D09782E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8DB206-6037-4CC5-B505-F69A34054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8CF5BC-A3AC-4922-8829-0C9EE2980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12E185-2D00-4D76-8E82-79A72F7758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4852F7-5909-4CEB-AD60-C5E97DD8E7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D02A0D-9EBA-4AB3-AE16-6ECBCBBFE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23CB28C-22A2-44F7-B880-3266E7FE9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B7B6E6-9596-4C03-B5FD-35DB87F03D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C14912-9121-493F-965D-5B1C1E948C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3D3AB7-BC5E-4937-99AC-84FC01403C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C66336-0BE3-4F3E-8B90-36D9CBAD6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68555c7aa14471" /><Relationship Type="http://schemas.openxmlformats.org/officeDocument/2006/relationships/slideLayout" Target="/ppt/slideLayouts/slideLayout1.xml" Id="R411df6af2c364efa" /><Relationship Type="http://schemas.openxmlformats.org/officeDocument/2006/relationships/slideLayout" Target="/ppt/slideLayouts/slideLayout2.xml" Id="R5edc7ddf85594f62" /><Relationship Type="http://schemas.openxmlformats.org/officeDocument/2006/relationships/slideLayout" Target="/ppt/slideLayouts/slideLayout3.xml" Id="Ra96dbe068d334e0d" /><Relationship Type="http://schemas.openxmlformats.org/officeDocument/2006/relationships/slideLayout" Target="/ppt/slideLayouts/slideLayout4.xml" Id="Rcba804f4bc1f474f" /><Relationship Type="http://schemas.openxmlformats.org/officeDocument/2006/relationships/slideLayout" Target="/ppt/slideLayouts/slideLayout5.xml" Id="R97002d4c4bcd443b" /><Relationship Type="http://schemas.openxmlformats.org/officeDocument/2006/relationships/slideLayout" Target="/ppt/slideLayouts/slideLayout6.xml" Id="R5086149026df4a56" /><Relationship Type="http://schemas.openxmlformats.org/officeDocument/2006/relationships/slideLayout" Target="/ppt/slideLayouts/slideLayout7.xml" Id="R6e63600bd65c427a" /><Relationship Type="http://schemas.openxmlformats.org/officeDocument/2006/relationships/slideLayout" Target="/ppt/slideLayouts/slideLayout8.xml" Id="Ra955f3bb1ccc419f" /><Relationship Type="http://schemas.openxmlformats.org/officeDocument/2006/relationships/slideLayout" Target="/ppt/slideLayouts/slideLayout9.xml" Id="R06e64589fdd04d51" /><Relationship Type="http://schemas.openxmlformats.org/officeDocument/2006/relationships/slideLayout" Target="/ppt/slideLayouts/slideLayout10.xml" Id="R0a035f765421426e" /><Relationship Type="http://schemas.openxmlformats.org/officeDocument/2006/relationships/slideLayout" Target="/ppt/slideLayouts/slideLayout11.xml" Id="R8514f1ed0611497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8B1387-41B3-4AFC-8DFE-462F6AF3F8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5A7C9E-4966-433E-B085-6F14DC0847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7B87B7-240F-43C5-BDCE-4A3672DC6A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5DFFCA-17D3-488B-91A4-15762D4B8B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60E786-5A21-4424-8040-466EFB68F16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1df6af2c364efa"/>
    <p:sldLayoutId xmlns:r="http://schemas.openxmlformats.org/officeDocument/2006/relationships" id="2147483650" r:id="R5edc7ddf85594f62"/>
    <p:sldLayoutId xmlns:r="http://schemas.openxmlformats.org/officeDocument/2006/relationships" id="2147483651" r:id="Ra96dbe068d334e0d"/>
    <p:sldLayoutId xmlns:r="http://schemas.openxmlformats.org/officeDocument/2006/relationships" id="2147483652" r:id="Rcba804f4bc1f474f"/>
    <p:sldLayoutId xmlns:r="http://schemas.openxmlformats.org/officeDocument/2006/relationships" id="2147483653" r:id="R97002d4c4bcd443b"/>
    <p:sldLayoutId xmlns:r="http://schemas.openxmlformats.org/officeDocument/2006/relationships" id="2147483654" r:id="R5086149026df4a56"/>
    <p:sldLayoutId xmlns:r="http://schemas.openxmlformats.org/officeDocument/2006/relationships" id="2147483655" r:id="R6e63600bd65c427a"/>
    <p:sldLayoutId xmlns:r="http://schemas.openxmlformats.org/officeDocument/2006/relationships" id="2147483656" r:id="Ra955f3bb1ccc419f"/>
    <p:sldLayoutId xmlns:r="http://schemas.openxmlformats.org/officeDocument/2006/relationships" id="2147483657" r:id="R06e64589fdd04d51"/>
    <p:sldLayoutId xmlns:r="http://schemas.openxmlformats.org/officeDocument/2006/relationships" id="2147483658" r:id="R0a035f765421426e"/>
    <p:sldLayoutId xmlns:r="http://schemas.openxmlformats.org/officeDocument/2006/relationships" id="2147483659" r:id="R8514f1ed0611497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64e471c90a421b" /><Relationship Type="http://schemas.openxmlformats.org/officeDocument/2006/relationships/notesSlide" Target="/ppt/notesSlides/notesSlide1.xml" Id="R324d2c115d65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a58b7ed5a74b3e" /><Relationship Type="http://schemas.openxmlformats.org/officeDocument/2006/relationships/notesSlide" Target="/ppt/notesSlides/notesSlide2.xml" Id="R4a6841d0efea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7a1c6d299a4ba3" /><Relationship Type="http://schemas.openxmlformats.org/officeDocument/2006/relationships/notesSlide" Target="/ppt/notesSlides/notesSlide3.xml" Id="R5c2022a19cc84b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8d91a98d59459a" /><Relationship Type="http://schemas.openxmlformats.org/officeDocument/2006/relationships/notesSlide" Target="/ppt/notesSlides/notesSlide4.xml" Id="Re4ad1ece049e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4fc019a85b4022" /><Relationship Type="http://schemas.openxmlformats.org/officeDocument/2006/relationships/notesSlide" Target="/ppt/notesSlides/notesSlide5.xml" Id="R6454cbd47d50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6b896fb9ae4006" /><Relationship Type="http://schemas.openxmlformats.org/officeDocument/2006/relationships/notesSlide" Target="/ppt/notesSlides/notesSlide6.xml" Id="Rd960973089684e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4d1f1e9c344f76" /><Relationship Type="http://schemas.openxmlformats.org/officeDocument/2006/relationships/notesSlide" Target="/ppt/notesSlides/notesSlide7.xml" Id="Re66d944d75e44c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143a9ba6f849d0" /><Relationship Type="http://schemas.openxmlformats.org/officeDocument/2006/relationships/notesSlide" Target="/ppt/notesSlides/notesSlide8.xml" Id="R09d8e0c3a09942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abd6753c894f9f" /><Relationship Type="http://schemas.openxmlformats.org/officeDocument/2006/relationships/notesSlide" Target="/ppt/notesSlides/notesSlide9.xml" Id="R02e7888c143643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9ed5f85418422c" /><Relationship Type="http://schemas.openxmlformats.org/officeDocument/2006/relationships/notesSlide" Target="/ppt/notesSlides/notesSlide10.xml" Id="Rda639b5dd90d4a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EB4B0AC-ADFD-422C-9662-9D34A0AC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0"/>
            <a:ext cx="374903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9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BBAC9EF-36A6-427D-8872-3D4BD98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931920"/>
            <a:ext cx="310896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A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70A142-3E37-425C-B6BC-4A69E5F8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383280"/>
            <a:ext cx="310896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25AADD-0B2B-4449-9E8C-3AC9D13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856" y="2743200"/>
            <a:ext cx="3108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4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DCFEF-D8CF-4FC1-A90D-6BED22A5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224" y="2011680"/>
            <a:ext cx="310896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A7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D4C1E7-126D-4629-B4FA-60BF56CF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85800"/>
            <a:ext cx="6949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EDA73"/>
                </a:solidFill>
                <a:latin typeface="Aptos"/>
                <a:ea typeface="Aptos"/>
                <a:cs typeface="Aptos"/>
              </a:defRPr>
            </a:pPr>
            <a:r>
              <a:t>PBL · ENGENHARIA DE SOFTWARE · 2026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48140D-2C19-4B5C-87A1-B2C5EE2F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7040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4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SOJA EM FLUXO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9A1099-488D-4FB1-8B7F-C44449BD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6858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F7F6ED"/>
                </a:solidFill>
                <a:latin typeface="Aptos"/>
                <a:ea typeface="Aptos"/>
                <a:cs typeface="Aptos"/>
              </a:defRPr>
            </a:pPr>
            <a:r>
              <a:t>Dados, economia e logística</a:t>
            </a:r>
            <a:br/>
            <a:r>
              <a:t>para decisões mais seguras.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1B3450A-8850-4DD8-B721-5C67F861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6766560" cy="4642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163"/>
            </a:defPPr>
            <a:lvl1pPr>
              <a:defRPr sz="1163"/>
            </a:lvl1pPr>
            <a:lvl2pPr>
              <a:defRPr sz="1163"/>
            </a:lvl2pPr>
            <a:lvl3pPr>
              <a:defRPr sz="1163"/>
            </a:lvl3pPr>
            <a:lvl4pPr>
              <a:defRPr sz="1163"/>
            </a:lvl4pPr>
            <a:lvl5pPr>
              <a:defRPr sz="1163"/>
            </a:lvl5pPr>
            <a:lvl6pPr>
              <a:defRPr sz="1163"/>
            </a:lvl6pPr>
            <a:lvl7pPr>
              <a:defRPr sz="1163"/>
            </a:lvl7pPr>
            <a:lvl8pPr>
              <a:defRPr sz="1163"/>
            </a:lvl8pPr>
            <a:lvl9pPr>
              <a:defRPr sz="1163"/>
            </a:lvl9pPr>
          </a:lstStyle>
          <a:p xmlns:a="http://schemas.openxmlformats.org/drawingml/2006/main">
            <a:pPr>
              <a:buNone/>
              <a:defRPr sz="11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/>
              <a:t>Matemática para Negócios · Profª Taynã Cristina Sousa Silva · Turma vespertina · 2º/2026.2</a:t>
            </a:r>
          </a:p>
          <a:p xmlns:a="http://schemas.openxmlformats.org/drawingml/2006/main">
            <a:pPr>
              <a:buNone/>
              <a:defRPr sz="11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/>
              <a:t>Equipe: Pedro Lucas, José Guilherme, Luís Felipe, Caio Rafael, Caio Henrique e João Guilherme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C5A63B-D233-44AE-A1E6-03D5A0A7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172200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BRASIL → MUNDO</a:t>
            </a:r>
          </a:p>
        </p:txBody>
      </p:sp>
    </p:spTree>
    <p:extLst>
      <p:ext uri="{BB962C8B-B14F-4D97-AF65-F5344CB8AC3E}">
        <p14:creationId xmlns:p14="http://schemas.microsoft.com/office/powerpoint/2010/main" val="1889006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7C738F1-E97D-48E9-BF6A-418C481E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INTRODUÇÃO · CONTEXTUALIZAÇÃO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4C01C5-8B4F-49E0-A74C-CCA0D14C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551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2900"/>
            </a:defPPr>
            <a:lvl1pPr>
              <a:defRPr sz="2900"/>
            </a:lvl1pPr>
            <a:lvl2pPr>
              <a:defRPr sz="2900"/>
            </a:lvl2pPr>
            <a:lvl3pPr>
              <a:defRPr sz="29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2900"/>
              <a:t>A soja é estratégica para o Brasil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60C105-9561-4DCC-A1CF-4B692F1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323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400"/>
            </a:defPPr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rPr sz="1400"/>
              <a:t>A margem depende do mercado internacional, do câmbio e da eficiência logística.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D5E0479-3EF0-4B39-9409-02B42DF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2044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6A18887-4BE2-4CAC-924D-F6D92DF0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Peso econômico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92F7686-CA69-41DF-B83C-27561CB0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51176"/>
            <a:ext cx="3154680" cy="902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300"/>
            </a:defPPr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300"/>
              <a:t>O complexo soja tem grande peso nas exportações brasileiras. Todo valor apresentado deve indicar a fonte, o período e a definição do agregado utilizado.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FD7B8F1-E7D3-4B08-BA90-6F4251E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5960"/>
            <a:ext cx="352044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20C51E5-A142-460E-8FD6-2E4A399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Mercado internacional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54FC386-FC61-46E5-AA7B-38F4C6DE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51176"/>
            <a:ext cx="3154680" cy="1801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A cotação global, o câmbio, o prêmio de porto, o frete e os custos de armazenagem influenciam o preço recebido pelo produtor.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A1B8A09-4381-4098-AC34-DFE66992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5960"/>
            <a:ext cx="352044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4E933F2-C8D1-4163-B7D0-4965FEB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Cadeia logística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317A8B-D52F-49AD-B9D3-5688AB62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51176"/>
            <a:ext cx="3154680" cy="1801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A soja percorre lavouras, silos, rodovias e ferrovias até terminais como Itaqui, Santos, Paranaguá e Barcarena.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93F249-8CB3-44D9-BD1E-C3E7AB0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15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Desafio central: transformar dados públicos e modelos matemáticos em decisões reproduzíveis sobre produção, comercialização e escoamento.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11AC3E8-6C01-4AA5-873B-C65C27FC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CBD6F39-B0DF-441D-B24D-CB4D9138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9643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166CEAA-FC3B-424E-89CB-23E14ED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01 · PROBLEMA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9FD023-D57E-4B83-8B84-B27C1F25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Exportar mais não significa lucrar mais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4A694A-EA36-4C7B-8532-CC3547B8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A Cooperativa Matopiba Grãos precisa decidir com dados rastreáveis, e não apenas com planilhas herdadas e intuição.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0C9F6A0-62A9-4A4C-A51D-BB20B3F6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2044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F68B22F-0D6E-4798-A9E9-C07D1F2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Preço que não controla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A1230F1-2944-49AC-A474-231BFE30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51176"/>
            <a:ext cx="3154680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A cooperativa é price-taker: recebe um preço influenciado por Chicago, câmbio, prêmio, frete e custos portuários.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5723390-E8BE-4EFD-AB04-0FB62703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5960"/>
            <a:ext cx="352044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94AC41-6AEC-40B3-A201-CDF701F9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Concentração de destino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2DB15A-191B-4EA2-AB6D-D83A493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51176"/>
            <a:ext cx="3154680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A dependência da China expõe a cadeia a mudanças comerciais e a choques de demanda.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899A0D1-9C67-437D-9348-C403E19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5960"/>
            <a:ext cx="352044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20E56C9-50AC-460B-AAD9-A9B9800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Gargalos logísticos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A10C54-DC44-4BA0-8F1B-8D35B198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51176"/>
            <a:ext cx="3154680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Filas de navios, demurrage, frete e capacidade dos terminais podem consumir a margem.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CB9952-3275-4318-833F-F5AA9A09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15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Pergunta do projeto: como reduzir a dependência de um único comprador e distribuir a soja entre mercados e portos sem sacrificar a rentabilidade?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955CBB6-78BB-4044-8E68-DA620FB0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6C6DBF1-156F-4DF9-9E19-CE3AC932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5072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35BE06-AC0D-4963-AF76-507B513D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02 · DADOS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792EFF8-DDB3-433B-8EFB-F800EE8D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Bases públicas para fundamentar as decisões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05B1FE8-B076-4483-A733-8BE0CAB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O recorte principal proposto no PBL é a exportação brasileira de soja em grão entre 2015 e 2025.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22D62CD-D11A-4117-B78F-366B20E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2044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854877-A292-484A-B726-F784AE40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Comex Stat · MDIC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AD86B9-4CA4-473B-88D8-5C7AC82E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51176"/>
            <a:ext cx="3154680" cy="818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163"/>
            </a:defPPr>
            <a:lvl1pPr>
              <a:defRPr sz="1163"/>
            </a:lvl1pPr>
            <a:lvl2pPr>
              <a:defRPr sz="1163"/>
            </a:lvl2pPr>
            <a:lvl3pPr>
              <a:defRPr sz="1163"/>
            </a:lvl3pPr>
            <a:lvl4pPr>
              <a:defRPr sz="1163"/>
            </a:lvl4pPr>
            <a:lvl5pPr>
              <a:defRPr sz="1163"/>
            </a:lvl5pPr>
            <a:lvl6pPr>
              <a:defRPr sz="1163"/>
            </a:lvl6pPr>
            <a:lvl7pPr>
              <a:defRPr sz="1163"/>
            </a:lvl7pPr>
            <a:lvl8pPr>
              <a:defRPr sz="1163"/>
            </a:lvl8pPr>
            <a:lvl9pPr>
              <a:defRPr sz="1163"/>
            </a:lvl9pPr>
          </a:lstStyle>
          <a:p xmlns:a="http://schemas.openxmlformats.org/drawingml/2006/main">
            <a:pPr>
              <a:buNone/>
              <a:defRPr sz="1163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163"/>
              <a:t>A fonte oferece FOB, peso, destino,</a:t>
            </a:r>
          </a:p>
          <a:p xmlns:a="http://schemas.openxmlformats.org/drawingml/2006/main">
            <a:pPr>
              <a:buNone/>
              <a:defRPr sz="1163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163"/>
              <a:t>origem e via. O arquivo importado</a:t>
            </a:r>
          </a:p>
          <a:p xmlns:a="http://schemas.openxmlformats.org/drawingml/2006/main">
            <a:pPr>
              <a:buNone/>
              <a:defRPr sz="1163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163"/>
              <a:t>contém valor, peso, mês e NCM.</a:t>
            </a:r>
          </a:p>
          <a:p xmlns:a="http://schemas.openxmlformats.org/drawingml/2006/main">
            <a:pPr>
              <a:buNone/>
              <a:defRPr sz="1163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163"/>
              <a:t>Destino ainda será incorporado.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6070087-27D2-4CAB-A4BB-4D8C1F61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5960"/>
            <a:ext cx="352044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7951697-1CCB-4644-B835-4C268639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Conab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7AEF789-C3D7-4E07-8253-3B0A7DDB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51176"/>
            <a:ext cx="3154680" cy="1801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Área plantada, produção e produtividade da terra. Esses dados complementam o comércio exterior e permitem avaliar valor exportado por hectare.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65E1C4-A5B8-40B3-9734-735085E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5960"/>
            <a:ext cx="3520440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DD15B30-8663-47BF-BBDA-B272B330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Fontes complementares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BB20C4E-2D4F-468E-A681-FC34C24E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51176"/>
            <a:ext cx="3154680" cy="1801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BCB: câmbio; IBGE: inflação e matrizes econômicas; ANTAQ: movimentação portuária; Anec/Abiove: informações setoriais.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086D154-C0B9-40FD-B1EC-0A2437C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Qualidade dos dados: registrar fonte e data de consulta, conferir unidades e documentar divergências entre embarques previstos e exportações declaradas.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84761D8-93E5-417C-ADBE-FD9427C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83BA5C9-BC19-4E9B-A64F-73D475B8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499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E482685-51AD-4DC3-A44A-085C292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03 · MÉTODO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C1FE56-0286-41BC-8E48-3BD6834C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Pipeline de dados + modelo econômico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0801881-5E2B-448F-A9BD-13113DE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A proposta combina engenharia de dados, derivadas e análise de cenários.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B3A0EDE-B386-49EB-83F5-D9EF96EB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40280"/>
            <a:ext cx="2084831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1CA5875-93DC-4CFE-AC2F-E438AF9D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505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9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D7E3B26-5B65-4CD9-9ED7-DA428425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505456"/>
            <a:ext cx="4389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C92BA38-F214-40B1-8099-CE1F428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054096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Ingerir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B9F848-9863-4F9A-95CF-03C36BA4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493008"/>
            <a:ext cx="1737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Importar dados oficiais e preservar os arquivos de origem.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3B0AD4A-B87D-4B16-B1C8-5DA1C81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240280"/>
            <a:ext cx="2084831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B8D314F-346B-478E-B4C0-678974CC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4505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9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CBC3F1-04D4-496E-A766-B0D6920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2505456"/>
            <a:ext cx="4389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0160A2E-7210-4E85-8870-22A9A54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3054096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Tratar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860C8A-32AA-4C08-AC5B-D2479FF5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3493008"/>
            <a:ext cx="1737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Padronizar datas, unidades e campos; validar totais e meses.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6C27886-4B57-4ACD-BC3D-EAD3E4A0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1" y="2240280"/>
            <a:ext cx="2084831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49E22323-4046-4276-A6A9-7B2B725D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3" y="24505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9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E1F8025-12E9-4A82-B827-75142F5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3" y="2505456"/>
            <a:ext cx="4389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7C763C0-F292-42A0-BC0B-A9446F1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3" y="3054096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Estimar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AF23A8D-874F-4575-A12E-C91D9E0A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3" y="3493008"/>
            <a:ext cx="1737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Calcular preço FOB/t e estimar relações entre preço e quantidade.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7A6A4C4C-31AE-4E90-97D1-2C4AF1D0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240280"/>
            <a:ext cx="2084831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28C965D-216C-47FD-BB01-AA6C2529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24505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9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16CBEC-487F-4C8A-9DFF-4487B329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2505456"/>
            <a:ext cx="4389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DC78D5A-BE9F-444E-9623-E231CDCB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054096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Otimizar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87091A-F6CB-4CF1-960A-AC97179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493008"/>
            <a:ext cx="1737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Derivar lucro, quantidade ótima, custo médio e oferta.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AAF3882-CB30-4089-9300-9A52BBFA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240280"/>
            <a:ext cx="2084831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98441B8-FC38-42DC-A7AD-241271A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3" y="245059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9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476E4D9-B901-49E0-AA62-7E29ED3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3" y="2505456"/>
            <a:ext cx="4389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DE29705-FFD8-4712-83D0-D75DD42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3" y="3054096"/>
            <a:ext cx="1737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Simular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F5BDFAB-FFDD-4A8D-874D-28AAAD53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3" y="3493008"/>
            <a:ext cx="1737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Testar choques e avaliar alocação entre mercados e portos.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626B7F0-7E72-4A81-BD05-7DFC8A46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83480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D98B43"/>
                </a:solidFill>
                <a:latin typeface="Aptos"/>
                <a:ea typeface="Aptos"/>
                <a:cs typeface="Aptos"/>
              </a:defRPr>
            </a:pPr>
            <a:r>
              <a:t>O modelo deve ser reproduzível: fórmulas cobertas por testes unitários, validações automáticas e indicadores apresentados em dashboard.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07A49F-F60C-4C21-9956-F41B9817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B4D6A1D-1BCF-442A-B349-D7FE92D7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5503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D295907-760F-4B81-AFD3-C6779EA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03 · MÉTODO ECONÔMICO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866CA7A-9D22-4051-AFF5-B84ED6E1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Como o modelo transforma preço em decisão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7AF6FB-33E5-4E9C-9150-5F31338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O PBL fornece uma função de custo didática para ilustrar a otimização da cooperativa.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98B4FF9-B438-4E83-B3EE-AA39A5D7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20440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B236D6C-B149-4182-9717-2D1A2FC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Custo total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A3D96AC-5BF7-47B0-8089-2ADA481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51176"/>
            <a:ext cx="315468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C(q) = 5.000.000 + 180q + 0,0006q²</a:t>
            </a:r>
            <a:br/>
            <a:br/>
            <a:r>
              <a:t>Inclui custo fixo e custos variáveis que crescem com o volume embarcado.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09E37DE-A380-4E74-9F3F-0C341FF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5960"/>
            <a:ext cx="3520440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218B408-E646-4174-A5E6-BFE52B6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Receita e lucro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1DE1FD7-897C-4699-B183-DEDE835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51176"/>
            <a:ext cx="315468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R(q) = P · q</a:t>
            </a:r>
            <a:br/>
            <a:br/>
            <a:r>
              <a:t>L(q) = P · q − C(q)</a:t>
            </a:r>
            <a:br/>
            <a:br/>
            <a:r>
              <a:t>O volume ótimo ocorre quando receita marginal = custo marginal, desde que seja um máximo.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EEB98D9-B0EF-4AD4-9B34-5DCABD52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5960"/>
            <a:ext cx="3520440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502D79B-CDB6-4DB0-94D4-E35EB8B9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Oferta e parada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F04EE5-2145-4779-869F-DA37E2E1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51176"/>
            <a:ext cx="315468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Derivar o lucro permite obter a oferta q(P). O custo variável médio permite estimar o shutdown point — preço mínimo para continuar operando.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745FE33-68B3-4E46-BB45-73EE00F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515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D98B43"/>
                </a:solidFill>
                <a:latin typeface="Aptos"/>
                <a:ea typeface="Aptos"/>
                <a:cs typeface="Aptos"/>
              </a:defRPr>
            </a:pPr>
            <a:r>
              <a:t>A função de custo é uma hipótese didática do enunciado; precisa ser calibrada antes de orientar decisões reais.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349865-67AA-46C2-8760-EDCC5A7D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0C16661-7260-48FD-90B5-DA51C2C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0771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486D824-A349-483F-9A9B-D7A11D10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04 · RESULTADOS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6F1F50E-C711-42C1-B6B1-544F4D7F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O que já existe e o que ainda precisa ser demonstrado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5F2C7C-8F0F-4F6A-9898-BACCB348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Separar entregas implementadas de hipóteses evita apresentar estimativas como se fossem fatos.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58BBDFB-B5FE-44DC-97A1-FD14B9DF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2044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0F920BC-941F-4D2A-B57B-97FD2007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Base implementada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E204AFE-71C3-452C-B9DE-D741F19C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51176"/>
            <a:ext cx="3154680" cy="1847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• Série de exportações importada</a:t>
            </a:r>
            <a:br/>
            <a:r>
              <a:t>• Agregação mensal</a:t>
            </a:r>
            <a:br/>
            <a:r>
              <a:t>• Conversão de kg para toneladas</a:t>
            </a:r>
            <a:br/>
            <a:r>
              <a:t>• Cálculo do preço FOB por tonelada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A265813-BF27-4417-B89F-A0AAC90C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5960"/>
            <a:ext cx="352044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76CEFA-BE22-48F8-BD0C-D86A0E20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12264"/>
            <a:ext cx="3154680" cy="353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600"/>
            </a:defPPr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rPr sz="1600"/>
              <a:t>Resultado preliminar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77E923-0ECA-4B3E-9333-BD54FD7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51176"/>
            <a:ext cx="3154680" cy="902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300"/>
            </a:defPPr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300"/>
              <a:t>• Exemplo didático: P = US$ 400/t</a:t>
            </a:r>
          </a:p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300"/>
              <a:t>• Quantidade ótima: 183,3 mil t</a:t>
            </a:r>
          </a:p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300"/>
              <a:t>• Lucro estimado: US$ 15,17 mi</a:t>
            </a:r>
          </a:p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rPr sz="1300"/>
              <a:t>• Parâmetros ainda não calibrados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7E2F196-0FA0-4D4E-898D-6B0F5031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5960"/>
            <a:ext cx="352044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FE9536B-EF8A-46C0-B0AE-0C81BE11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Validação necessária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DB4147-4E23-450C-9513-F06C1D10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51176"/>
            <a:ext cx="3154680" cy="1847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• Testes estatísticos</a:t>
            </a:r>
            <a:br/>
            <a:r>
              <a:t>• Conferência com fontes oficiais</a:t>
            </a:r>
            <a:br/>
            <a:r>
              <a:t>• HHI por destino</a:t>
            </a:r>
            <a:br/>
            <a:r>
              <a:t>• Produtividade logística e alocação portuária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6B83AC-51C7-49D6-BA59-AC30A51D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515600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rPr sz="1500"/>
              <a:t>O cálculo econômico ilustra o método. A conclusão final depende da validação dos parâmetros e da conclusão dos cenários.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6A7FAD2-FA1C-4209-B4DF-A48B54E4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963C283-AE8B-4156-B8AC-448D3612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4505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14F531-1CD3-4E5E-AD4D-4793FA75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05 · CENÁRIOS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B1F751-9B73-44DC-A3D9-6E3752F0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Três testes de estresse definidos pelo PBL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68348C9-198C-4E60-9CBB-2CF995C1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Os cenários permitem avaliar a robustez das decisões quando as condições de mercado mudam.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28E6468-AA2F-49FA-B8A0-AEF33FBB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5960"/>
            <a:ext cx="3520440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A69E4C-4C57-40FC-B0ED-F6A8C49C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A · Queda da demanda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F5B336-B12B-4EA6-B137-F0D9A14D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51176"/>
            <a:ext cx="315468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A China reduz em 10 milhões de toneladas as compras do Brasil.</a:t>
            </a:r>
            <a:br/>
            <a:br/>
            <a:r>
              <a:t>Avaliar impacto em preço, volume vendido e lucro; testar novos destinos.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010A577-D5BA-4E1C-AC40-4430BEB4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5960"/>
            <a:ext cx="3520440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CF802F-88F5-4EDC-BADA-F170EFD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B · Câmbio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3566195-259F-41E5-94AB-1F602695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51176"/>
            <a:ext cx="315468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O dólar perde 15% de valor frente ao real.</a:t>
            </a:r>
            <a:br/>
            <a:br/>
            <a:r>
              <a:t>Recalcular receitas e custos em moeda compatível e comparar a margem.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D7AE280-0012-4296-8BAE-16D851A2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5960"/>
            <a:ext cx="3520440" cy="2651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6A8DDD5-2342-41B1-A209-B4C05EB1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12264"/>
            <a:ext cx="3154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 · Porto de Itaqui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5013CA-6AFF-408B-A509-B1496F7A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51176"/>
            <a:ext cx="315468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O custo logístico aumenta 20% devido à fila de navios.</a:t>
            </a:r>
            <a:br/>
            <a:br/>
            <a:r>
              <a:t>Avaliar custo total e redistribuição viável entre portos.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532FAA-B376-4C55-903D-FF41FFA5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515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D98B43"/>
                </a:solidFill>
                <a:latin typeface="Aptos"/>
                <a:ea typeface="Aptos"/>
                <a:cs typeface="Aptos"/>
              </a:defRPr>
            </a:pPr>
            <a:r>
              <a:t>Os efeitos numéricos ainda precisam ser calculados; cada cenário deve usar as mesmas premissas e restrições para permitir comparação.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AFB5C7A-A46B-4D04-B062-30C3D7DB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5095B8-357D-49C7-B81C-52C9DF47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6840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CE5E607-6A99-4414-8D5D-55174AED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"/>
            <a:ext cx="10972800" cy="277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>
            <a:defPPr>
              <a:defRPr sz="1100"/>
            </a:defPPr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 xmlns:a="http://schemas.openxmlformats.org/drawingml/2006/main">
            <a:pPr>
              <a:buNone/>
              <a:defRPr sz="11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rPr sz="1100"/>
              <a:t>06 · RECOMENDAÇÃO E LIMITAÇÕES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654EA6-C1DF-4924-AA37-D081B01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836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Diversificar com evidência, não por impulso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0FBDD0-85C3-40C3-848A-87FC1C37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A recomendação final deve ser selecionada depois de comparar rentabilidade, concentração e capacidade logística.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47BD307-C220-48A7-90DE-1DFC92C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525780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BFD9F5D-C2D9-4313-B549-B79E9351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20824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Recomendação proposta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129746-45BB-4B8D-8567-871DDE86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59736"/>
            <a:ext cx="4892040" cy="2487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1. Completar e validar os dados.</a:t>
            </a:r>
            <a:br/>
            <a:r>
              <a:t>2. Estimar oferta e demanda e testar o modelo.</a:t>
            </a:r>
            <a:br/>
            <a:r>
              <a:t>3. Comparar a estratégia atual com alternativas de diversificação.</a:t>
            </a:r>
            <a:br/>
            <a:r>
              <a:t>4. Alocar volumes respeitando capacidade e custos.</a:t>
            </a:r>
            <a:br/>
            <a:r>
              <a:t>5. Priorizar opções que reduzam a concentração sem diminuir o lucro esperado.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796E4B-00DE-4896-A680-E0DB157C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74519"/>
            <a:ext cx="525780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5EC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27FC09-5EC6-4DBF-B69D-BA1A2971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20824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Limitações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6A1E39A-E4E1-4E22-B367-701CD5A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59736"/>
            <a:ext cx="4892040" cy="2487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122B24"/>
                </a:solidFill>
                <a:latin typeface="Aptos"/>
                <a:ea typeface="Aptos"/>
                <a:cs typeface="Aptos"/>
              </a:defRPr>
            </a:pPr>
            <a:r>
              <a:t>• O modelo de custo é didático e não está calibrado com a contabilidade real.</a:t>
            </a:r>
            <a:br/>
            <a:r>
              <a:t>• Dados de frete, capacidade e contratos precisam de fonte e atualização.</a:t>
            </a:r>
            <a:br/>
            <a:r>
              <a:t>• Abertura de novos mercados envolve risco de crédito e exigências fitossanitárias.</a:t>
            </a:r>
            <a:br/>
            <a:r>
              <a:t>• Cenários são testes hipotéticos, não previsões garantidas.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212645-0EDF-4E4F-A2E0-8AB41F1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0515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Critério de decisão: reduzir a concentração de destinos, manter a rentabilidade e respeitar os limites reais da cadeia.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F4FECF-CEFA-41D3-9F16-D09366C0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510528"/>
            <a:ext cx="9144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7625B"/>
                </a:solidFill>
                <a:latin typeface="Aptos"/>
                <a:ea typeface="Aptos"/>
                <a:cs typeface="Aptos"/>
              </a:defRPr>
            </a:pPr>
            <a:r>
              <a:t>PBL · Soja em Fluxo | Matemática para Negócios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8183BF-CD21-4BCD-B58E-0400D06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27694A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74696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1942A0-B1A6-4BD1-84A5-2E911AA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3152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EDA73"/>
                </a:solidFill>
                <a:latin typeface="Aptos"/>
                <a:ea typeface="Aptos"/>
                <a:cs typeface="Aptos"/>
              </a:defRPr>
            </a:pPr>
            <a:r>
              <a:t>CONCLUSÃO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A45A79-2F04-4DF3-AB65-355FBBE8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0332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Decidir melhor começa por medir melhor.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38CA53D-BB5D-4DFD-A6EE-DED42073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98755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0">
                <a:solidFill>
                  <a:srgbClr val="F7F6ED"/>
                </a:solidFill>
                <a:latin typeface="Aptos"/>
                <a:ea typeface="Aptos"/>
                <a:cs typeface="Aptos"/>
              </a:defRPr>
            </a:pPr>
            <a:r>
              <a:t>O sistema proposto integra dados públicos, matemática econômica e logística para apoiar decisões mais transparentes, comparáveis e reproduzíveis.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EC94E12-B5D7-43A6-87C3-08E5C3FE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9875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BEDA73"/>
                </a:solidFill>
                <a:latin typeface="Aptos"/>
                <a:ea typeface="Aptos"/>
                <a:cs typeface="Aptos"/>
              </a:defRPr>
            </a:pPr>
            <a:r>
              <a:t>Soja em Fluxo · Da origem ao porto, com os dados à vista.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5012B82-2B6B-42A3-B6F6-2D473609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26364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54864" rIns="54864" bIns="5486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5A474-2AA5-4DFB-B9BD-25FE1FA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787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defPPr>
            <a:lvl1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1pPr>
            <a:lvl2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2pPr>
            <a:lvl3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3pPr>
            <a:lvl4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4pPr>
            <a:lvl5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5pPr>
            <a:lvl6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6pPr>
            <a:lvl7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7pPr>
            <a:lvl8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8pPr>
            <a:lvl9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88">
                <a:solidFill>
                  <a:srgbClr val="F7F6ED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F7F6ED"/>
                </a:solidFill>
                <a:latin typeface="Aptos"/>
                <a:ea typeface="Aptos"/>
                <a:cs typeface="Aptos"/>
              </a:rPr>
              <a:t>Equipe: Pedro Lucas · José Guilherme · Luís Felipe · Caio Rafael · Caio Henrique · João Guilherme</a:t>
            </a:r>
          </a:p>
        </p:txBody>
      </p:sp>
    </p:spTree>
    <p:extLst>
      <p:ext uri="{BB962C8B-B14F-4D97-AF65-F5344CB8AC3E}">
        <p14:creationId xmlns:p14="http://schemas.microsoft.com/office/powerpoint/2010/main" val="361843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2026-10-26T14:08:25.5540000Z</dcterms:created>
  <dcterms:modified xsi:type="dcterms:W3CDTF">2026-10-26T14:08:25.5540000Z</dcterms:modified>
</coreProperties>
</file>